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3"/>
          <a:stretch>
            <a:fillRect/>
          </a:stretch>
        </p:blipFill>
        <p:spPr>
          <a:xfrm>
            <a:off x="571500" y="5095875"/>
            <a:ext cx="11049000" cy="1095375"/>
          </a:xfrm>
          <a:prstGeom prst="rect">
            <a:avLst/>
          </a:prstGeom>
        </p:spPr>
      </p:pic>
      <p:sp>
        <p:nvSpPr>
          <p:cNvPr id="6" name="TextBox 5"/>
          <p:cNvSpPr txBox="1"/>
          <p:nvPr/>
        </p:nvSpPr>
        <p:spPr>
          <a:xfrm>
            <a:off x="571500" y="2128986"/>
            <a:ext cx="11601450" cy="1097160"/>
          </a:xfrm>
          <a:prstGeom prst="rect">
            <a:avLst/>
          </a:prstGeom>
          <a:noFill/>
        </p:spPr>
        <p:txBody>
          <a:bodyPr wrap="square" lIns="0" tIns="0" rIns="0" bIns="0" anchor="t">
            <a:spAutoFit/>
          </a:bodyPr>
          <a:lstStyle/>
          <a:p>
            <a:pPr algn="l">
              <a:lnSpc>
                <a:spcPts val="4320"/>
              </a:lnSpc>
            </a:pPr>
            <a:r>
              <a:rPr sz="3600" b="0" i="0" u="none" dirty="0">
                <a:solidFill>
                  <a:srgbClr val="0F172A"/>
                </a:solidFill>
                <a:latin typeface="Poppins ExtraBold"/>
              </a:rPr>
              <a:t>Diabetes Prediction Using Logistic Regression &amp; Random Forest</a:t>
            </a:r>
            <a:r>
              <a:rPr lang="en-IN" sz="3600" b="0" i="0" u="none" dirty="0">
                <a:solidFill>
                  <a:srgbClr val="0F172A"/>
                </a:solidFill>
                <a:latin typeface="Poppins ExtraBold"/>
              </a:rPr>
              <a:t> with Cross Validation</a:t>
            </a:r>
            <a:endParaRPr sz="3600" b="0" i="0" u="none" dirty="0">
              <a:solidFill>
                <a:srgbClr val="0F172A"/>
              </a:solidFill>
              <a:latin typeface="Poppins ExtraBold"/>
            </a:endParaRPr>
          </a:p>
        </p:txBody>
      </p:sp>
      <p:sp>
        <p:nvSpPr>
          <p:cNvPr id="7" name="TextBox 6"/>
          <p:cNvSpPr txBox="1"/>
          <p:nvPr/>
        </p:nvSpPr>
        <p:spPr>
          <a:xfrm>
            <a:off x="571500" y="3321397"/>
            <a:ext cx="8572500" cy="559891"/>
          </a:xfrm>
          <a:prstGeom prst="rect">
            <a:avLst/>
          </a:prstGeom>
          <a:noFill/>
        </p:spPr>
        <p:txBody>
          <a:bodyPr wrap="square" lIns="0" tIns="0" rIns="0" bIns="0" anchor="t">
            <a:spAutoFit/>
          </a:bodyPr>
          <a:lstStyle/>
          <a:p>
            <a:pPr algn="l">
              <a:lnSpc>
                <a:spcPts val="2204"/>
              </a:lnSpc>
            </a:pPr>
            <a:r>
              <a:rPr sz="1575" b="0" i="0" u="none">
                <a:solidFill>
                  <a:srgbClr val="475569"/>
                </a:solidFill>
                <a:latin typeface="Inter"/>
              </a:rPr>
              <a:t>A Predictive Healthcare Framework Incorporating K-Fold Cross Validation for Reliable Diagnostic Risk Assessment</a:t>
            </a:r>
          </a:p>
        </p:txBody>
      </p:sp>
      <p:sp>
        <p:nvSpPr>
          <p:cNvPr id="8" name="TextBox 7"/>
          <p:cNvSpPr txBox="1"/>
          <p:nvPr/>
        </p:nvSpPr>
        <p:spPr>
          <a:xfrm>
            <a:off x="885825" y="5295900"/>
            <a:ext cx="10458450" cy="180975"/>
          </a:xfrm>
          <a:prstGeom prst="rect">
            <a:avLst/>
          </a:prstGeom>
          <a:noFill/>
        </p:spPr>
        <p:txBody>
          <a:bodyPr wrap="square" lIns="0" tIns="0" rIns="0" bIns="0" anchor="t">
            <a:spAutoFit/>
          </a:bodyPr>
          <a:lstStyle/>
          <a:p>
            <a:pPr algn="l"/>
            <a:r>
              <a:rPr sz="1125" b="1" i="0" u="none">
                <a:solidFill>
                  <a:srgbClr val="0F172A"/>
                </a:solidFill>
                <a:latin typeface="Inter"/>
              </a:rPr>
              <a:t>PROJECT TEAM MEMBERS</a:t>
            </a:r>
          </a:p>
        </p:txBody>
      </p:sp>
      <p:pic>
        <p:nvPicPr>
          <p:cNvPr id="9" name="Picture 8" descr="image.png"/>
          <p:cNvPicPr>
            <a:picLocks noChangeAspect="1"/>
          </p:cNvPicPr>
          <p:nvPr/>
        </p:nvPicPr>
        <p:blipFill>
          <a:blip r:embed="rId4"/>
          <a:stretch>
            <a:fillRect/>
          </a:stretch>
        </p:blipFill>
        <p:spPr>
          <a:xfrm>
            <a:off x="885825" y="5600700"/>
            <a:ext cx="381000" cy="381000"/>
          </a:xfrm>
          <a:prstGeom prst="rect">
            <a:avLst/>
          </a:prstGeom>
        </p:spPr>
      </p:pic>
      <p:sp>
        <p:nvSpPr>
          <p:cNvPr id="10" name="TextBox 9"/>
          <p:cNvSpPr txBox="1"/>
          <p:nvPr/>
        </p:nvSpPr>
        <p:spPr>
          <a:xfrm>
            <a:off x="1381125" y="5591175"/>
            <a:ext cx="1057275" cy="400050"/>
          </a:xfrm>
          <a:prstGeom prst="rect">
            <a:avLst/>
          </a:prstGeom>
          <a:noFill/>
        </p:spPr>
        <p:txBody>
          <a:bodyPr wrap="square" lIns="0" tIns="0" rIns="0" bIns="0" anchor="t">
            <a:spAutoFit/>
          </a:bodyPr>
          <a:lstStyle/>
          <a:p>
            <a:pPr algn="l"/>
            <a:r>
              <a:rPr sz="1200" b="1" i="0" u="none">
                <a:solidFill>
                  <a:srgbClr val="0F172A"/>
                </a:solidFill>
                <a:latin typeface="Inter"/>
              </a:rPr>
              <a:t>Sreeya</a:t>
            </a:r>
            <a:r>
              <a:rPr sz="1200" b="0" i="0" u="none">
                <a:solidFill>
                  <a:srgbClr val="000000"/>
                </a:solidFill>
                <a:latin typeface="Inter"/>
              </a:rPr>
              <a:t> </a:t>
            </a:r>
            <a:r>
              <a:rPr sz="1200" b="0" i="0" u="none">
                <a:solidFill>
                  <a:srgbClr val="64748B"/>
                </a:solidFill>
                <a:latin typeface="Inter Medium"/>
              </a:rPr>
              <a:t>ID: 2500032243</a:t>
            </a:r>
          </a:p>
        </p:txBody>
      </p:sp>
      <p:pic>
        <p:nvPicPr>
          <p:cNvPr id="11" name="Picture 10" descr="image.png"/>
          <p:cNvPicPr>
            <a:picLocks noChangeAspect="1"/>
          </p:cNvPicPr>
          <p:nvPr/>
        </p:nvPicPr>
        <p:blipFill>
          <a:blip r:embed="rId5"/>
          <a:stretch>
            <a:fillRect/>
          </a:stretch>
        </p:blipFill>
        <p:spPr>
          <a:xfrm>
            <a:off x="2819400" y="5600700"/>
            <a:ext cx="381000" cy="381000"/>
          </a:xfrm>
          <a:prstGeom prst="rect">
            <a:avLst/>
          </a:prstGeom>
        </p:spPr>
      </p:pic>
      <p:sp>
        <p:nvSpPr>
          <p:cNvPr id="12" name="TextBox 11"/>
          <p:cNvSpPr txBox="1"/>
          <p:nvPr/>
        </p:nvSpPr>
        <p:spPr>
          <a:xfrm>
            <a:off x="3314700" y="5591175"/>
            <a:ext cx="1057275" cy="400050"/>
          </a:xfrm>
          <a:prstGeom prst="rect">
            <a:avLst/>
          </a:prstGeom>
          <a:noFill/>
        </p:spPr>
        <p:txBody>
          <a:bodyPr wrap="square" lIns="0" tIns="0" rIns="0" bIns="0" anchor="t">
            <a:spAutoFit/>
          </a:bodyPr>
          <a:lstStyle/>
          <a:p>
            <a:pPr algn="l"/>
            <a:r>
              <a:rPr sz="1200" b="1" i="0" u="none" dirty="0">
                <a:solidFill>
                  <a:srgbClr val="0F172A"/>
                </a:solidFill>
                <a:latin typeface="Inter"/>
              </a:rPr>
              <a:t>Hasini</a:t>
            </a:r>
            <a:r>
              <a:rPr sz="1200" b="0" i="0" u="none" dirty="0">
                <a:solidFill>
                  <a:srgbClr val="000000"/>
                </a:solidFill>
                <a:latin typeface="Inter"/>
              </a:rPr>
              <a:t> </a:t>
            </a:r>
            <a:r>
              <a:rPr sz="1200" b="0" i="0" u="none" dirty="0">
                <a:solidFill>
                  <a:srgbClr val="64748B"/>
                </a:solidFill>
                <a:latin typeface="Inter Medium"/>
              </a:rPr>
              <a:t>ID: 2500030238</a:t>
            </a:r>
          </a:p>
        </p:txBody>
      </p:sp>
      <p:pic>
        <p:nvPicPr>
          <p:cNvPr id="13" name="Picture 12" descr="image.png"/>
          <p:cNvPicPr>
            <a:picLocks noChangeAspect="1"/>
          </p:cNvPicPr>
          <p:nvPr/>
        </p:nvPicPr>
        <p:blipFill>
          <a:blip r:embed="rId6"/>
          <a:stretch>
            <a:fillRect/>
          </a:stretch>
        </p:blipFill>
        <p:spPr>
          <a:xfrm>
            <a:off x="1000125" y="5705475"/>
            <a:ext cx="152400" cy="171450"/>
          </a:xfrm>
          <a:prstGeom prst="rect">
            <a:avLst/>
          </a:prstGeom>
        </p:spPr>
      </p:pic>
      <p:pic>
        <p:nvPicPr>
          <p:cNvPr id="14" name="Picture 13" descr="image.png"/>
          <p:cNvPicPr>
            <a:picLocks noChangeAspect="1"/>
          </p:cNvPicPr>
          <p:nvPr/>
        </p:nvPicPr>
        <p:blipFill>
          <a:blip r:embed="rId6"/>
          <a:stretch>
            <a:fillRect/>
          </a:stretch>
        </p:blipFill>
        <p:spPr>
          <a:xfrm>
            <a:off x="2933700" y="5705475"/>
            <a:ext cx="15240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2005012"/>
            <a:ext cx="5334000" cy="3619500"/>
          </a:xfrm>
          <a:prstGeom prst="rect">
            <a:avLst/>
          </a:prstGeom>
        </p:spPr>
      </p:pic>
      <p:sp>
        <p:nvSpPr>
          <p:cNvPr id="5" name="TextBox 4"/>
          <p:cNvSpPr txBox="1"/>
          <p:nvPr/>
        </p:nvSpPr>
        <p:spPr>
          <a:xfrm>
            <a:off x="571500" y="2357437"/>
            <a:ext cx="5334000" cy="861774"/>
          </a:xfrm>
          <a:prstGeom prst="rect">
            <a:avLst/>
          </a:prstGeom>
          <a:noFill/>
        </p:spPr>
        <p:txBody>
          <a:bodyPr wrap="square" lIns="0" tIns="0" rIns="0" bIns="0" anchor="t">
            <a:spAutoFit/>
          </a:bodyPr>
          <a:lstStyle/>
          <a:p>
            <a:r>
              <a:rPr lang="en-IN" sz="1400" dirty="0"/>
              <a:t>Diabetes is a common chronic health condition that can lead to serious complications if it is not identified and managed early. Predicting an individual's risk of diabetes using health-related data can support early awareness and timely intervention.</a:t>
            </a:r>
            <a:endParaRPr sz="1275" b="0" i="0" u="none" dirty="0">
              <a:solidFill>
                <a:srgbClr val="334155"/>
              </a:solidFill>
              <a:latin typeface="Inter"/>
            </a:endParaRPr>
          </a:p>
        </p:txBody>
      </p:sp>
      <p:sp>
        <p:nvSpPr>
          <p:cNvPr id="7" name="TextBox 6"/>
          <p:cNvSpPr txBox="1"/>
          <p:nvPr/>
        </p:nvSpPr>
        <p:spPr>
          <a:xfrm>
            <a:off x="571500" y="3814762"/>
            <a:ext cx="5334000" cy="1077218"/>
          </a:xfrm>
          <a:prstGeom prst="rect">
            <a:avLst/>
          </a:prstGeom>
          <a:noFill/>
        </p:spPr>
        <p:txBody>
          <a:bodyPr wrap="square" lIns="0" tIns="0" rIns="0" bIns="0" anchor="t">
            <a:spAutoFit/>
          </a:bodyPr>
          <a:lstStyle/>
          <a:p>
            <a:r>
              <a:rPr lang="en-IN" sz="1400" dirty="0"/>
              <a:t>This project uses Machine Learning techniques to </a:t>
            </a:r>
            <a:r>
              <a:rPr lang="en-IN" sz="1400" dirty="0" err="1"/>
              <a:t>analyze</a:t>
            </a:r>
            <a:r>
              <a:rPr lang="en-IN" sz="1400" dirty="0"/>
              <a:t> relevant health parameters and identify patterns associated with diabetes risk. By performing Exploratory Data Analysis (EDA) and building predictive models, the system aims to provide a data-driven approach for estimating whether an individual may be at risk.</a:t>
            </a:r>
            <a:endParaRPr sz="1275" b="0" i="0" u="none" dirty="0">
              <a:solidFill>
                <a:srgbClr val="334155"/>
              </a:solidFill>
              <a:latin typeface="Inter"/>
            </a:endParaRPr>
          </a:p>
        </p:txBody>
      </p:sp>
      <p:pic>
        <p:nvPicPr>
          <p:cNvPr id="9" name="Picture 8" descr="image.png"/>
          <p:cNvPicPr>
            <a:picLocks noChangeAspect="1"/>
          </p:cNvPicPr>
          <p:nvPr/>
        </p:nvPicPr>
        <p:blipFill>
          <a:blip r:embed="rId4"/>
          <a:stretch>
            <a:fillRect/>
          </a:stretch>
        </p:blipFill>
        <p:spPr>
          <a:xfrm>
            <a:off x="6296025" y="2014537"/>
            <a:ext cx="5314950" cy="3600450"/>
          </a:xfrm>
          <a:prstGeom prst="rect">
            <a:avLst/>
          </a:prstGeom>
        </p:spPr>
      </p:pic>
      <p:sp>
        <p:nvSpPr>
          <p:cNvPr id="10" name="TextBox 9"/>
          <p:cNvSpPr txBox="1"/>
          <p:nvPr/>
        </p:nvSpPr>
        <p:spPr>
          <a:xfrm>
            <a:off x="571500" y="522930"/>
            <a:ext cx="11580814" cy="392415"/>
          </a:xfrm>
          <a:prstGeom prst="rect">
            <a:avLst/>
          </a:prstGeom>
          <a:noFill/>
        </p:spPr>
        <p:txBody>
          <a:bodyPr wrap="square" lIns="0" tIns="0" rIns="0" bIns="0" anchor="ctr">
            <a:spAutoFit/>
          </a:bodyPr>
          <a:lstStyle/>
          <a:p>
            <a:pPr algn="l"/>
            <a:r>
              <a:rPr sz="2550" b="1" i="0" u="none" dirty="0">
                <a:solidFill>
                  <a:srgbClr val="0F172A"/>
                </a:solidFill>
                <a:latin typeface="Poppins"/>
              </a:rPr>
              <a:t>Introduction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18" name="TextBox 17"/>
          <p:cNvSpPr txBox="1"/>
          <p:nvPr/>
        </p:nvSpPr>
        <p:spPr>
          <a:xfrm>
            <a:off x="946100" y="476250"/>
            <a:ext cx="11208119" cy="485775"/>
          </a:xfrm>
          <a:prstGeom prst="rect">
            <a:avLst/>
          </a:prstGeom>
          <a:noFill/>
        </p:spPr>
        <p:txBody>
          <a:bodyPr wrap="square" lIns="0" tIns="0" rIns="0" bIns="0" anchor="ctr">
            <a:spAutoFit/>
          </a:bodyPr>
          <a:lstStyle/>
          <a:p>
            <a:pPr algn="l"/>
            <a:r>
              <a:rPr sz="2550" b="1" i="0" u="none">
                <a:solidFill>
                  <a:srgbClr val="0F172A"/>
                </a:solidFill>
                <a:latin typeface="Poppins"/>
              </a:rPr>
              <a:t>Problem Statement</a:t>
            </a:r>
          </a:p>
        </p:txBody>
      </p:sp>
      <p:sp>
        <p:nvSpPr>
          <p:cNvPr id="20" name="TextBox 19">
            <a:extLst>
              <a:ext uri="{FF2B5EF4-FFF2-40B4-BE49-F238E27FC236}">
                <a16:creationId xmlns:a16="http://schemas.microsoft.com/office/drawing/2014/main" id="{041ED136-2B5F-4EB7-3794-7EB384367A92}"/>
              </a:ext>
            </a:extLst>
          </p:cNvPr>
          <p:cNvSpPr txBox="1"/>
          <p:nvPr/>
        </p:nvSpPr>
        <p:spPr>
          <a:xfrm>
            <a:off x="1297858" y="1759407"/>
            <a:ext cx="7885471" cy="2308324"/>
          </a:xfrm>
          <a:prstGeom prst="rect">
            <a:avLst/>
          </a:prstGeom>
          <a:noFill/>
        </p:spPr>
        <p:txBody>
          <a:bodyPr wrap="square">
            <a:spAutoFit/>
          </a:bodyPr>
          <a:lstStyle/>
          <a:p>
            <a:pPr>
              <a:buNone/>
            </a:pPr>
            <a:r>
              <a:rPr lang="en-IN" dirty="0"/>
              <a:t>Diabetes often develops gradually, and identifying individuals at risk at an early stage can be challenging. Traditional assessment may require multiple medical tests and expert evaluation. Therefore, there is a need for a data-driven approach that can analyse health-related parameters and identify patterns associated with diabetes risk.</a:t>
            </a:r>
          </a:p>
          <a:p>
            <a:pPr>
              <a:buNone/>
            </a:pPr>
            <a:r>
              <a:rPr lang="en-IN" dirty="0"/>
              <a:t>This project aims to develop a Machine Learning-based system that predicts the likelihood of diabetes using relevant health and medical data, supporting early risk identification and awareness.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7781" y="-108924"/>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585787"/>
            <a:ext cx="260300" cy="266700"/>
          </a:xfrm>
          <a:prstGeom prst="rect">
            <a:avLst/>
          </a:prstGeom>
        </p:spPr>
      </p:pic>
      <p:sp>
        <p:nvSpPr>
          <p:cNvPr id="4" name="Rounded Rectangle 3"/>
          <p:cNvSpPr/>
          <p:nvPr/>
        </p:nvSpPr>
        <p:spPr>
          <a:xfrm>
            <a:off x="571500" y="1985962"/>
            <a:ext cx="11049000" cy="781050"/>
          </a:xfrm>
          <a:prstGeom prst="roundRect">
            <a:avLst>
              <a:gd name="adj" fmla="val 121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85850" y="2138362"/>
            <a:ext cx="10344150" cy="47625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Data Preprocessing &amp; Cleaning:</a:t>
            </a:r>
            <a:r>
              <a:rPr sz="1200" b="0" i="0" u="none">
                <a:solidFill>
                  <a:srgbClr val="334155"/>
                </a:solidFill>
                <a:latin typeface="Inter"/>
              </a:rPr>
              <a:t> Handle zero-value clinical anomalies in attributes like Glucose, Blood Pressure, and BMI using imputation strategies.</a:t>
            </a:r>
          </a:p>
        </p:txBody>
      </p:sp>
      <p:sp>
        <p:nvSpPr>
          <p:cNvPr id="6" name="Rounded Rectangle 5"/>
          <p:cNvSpPr/>
          <p:nvPr/>
        </p:nvSpPr>
        <p:spPr>
          <a:xfrm>
            <a:off x="571500" y="2900362"/>
            <a:ext cx="11049000" cy="552450"/>
          </a:xfrm>
          <a:prstGeom prst="roundRect">
            <a:avLst>
              <a:gd name="adj" fmla="val 1724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5850" y="3052762"/>
            <a:ext cx="10344150" cy="24765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Baseline Modeling (Logistic Regression):</a:t>
            </a:r>
            <a:r>
              <a:rPr sz="1200" b="0" i="0" u="none">
                <a:solidFill>
                  <a:srgbClr val="334155"/>
                </a:solidFill>
                <a:latin typeface="Inter"/>
              </a:rPr>
              <a:t> Establish an interpretable, baseline probabilistic model to determine linear decision boundaries.</a:t>
            </a:r>
          </a:p>
        </p:txBody>
      </p:sp>
      <p:sp>
        <p:nvSpPr>
          <p:cNvPr id="8" name="Rounded Rectangle 7"/>
          <p:cNvSpPr/>
          <p:nvPr/>
        </p:nvSpPr>
        <p:spPr>
          <a:xfrm>
            <a:off x="571500" y="3586162"/>
            <a:ext cx="11049000" cy="552450"/>
          </a:xfrm>
          <a:prstGeom prst="roundRect">
            <a:avLst>
              <a:gd name="adj" fmla="val 1724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5850" y="3738562"/>
            <a:ext cx="10344150" cy="24765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Ensemble Learning (Random Forest):</a:t>
            </a:r>
            <a:r>
              <a:rPr sz="1200" b="0" i="0" u="none">
                <a:solidFill>
                  <a:srgbClr val="334155"/>
                </a:solidFill>
                <a:latin typeface="Inter"/>
              </a:rPr>
              <a:t> Build an ensemble decision tree architecture to capture intricate non-linear physiological interactions.</a:t>
            </a:r>
          </a:p>
        </p:txBody>
      </p:sp>
      <p:sp>
        <p:nvSpPr>
          <p:cNvPr id="10" name="Rounded Rectangle 9"/>
          <p:cNvSpPr/>
          <p:nvPr/>
        </p:nvSpPr>
        <p:spPr>
          <a:xfrm>
            <a:off x="571500" y="4271962"/>
            <a:ext cx="11049000" cy="552450"/>
          </a:xfrm>
          <a:prstGeom prst="roundRect">
            <a:avLst>
              <a:gd name="adj" fmla="val 1724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85850" y="4424362"/>
            <a:ext cx="10344150" cy="24765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K-Fold Cross Validation:</a:t>
            </a:r>
            <a:r>
              <a:rPr sz="1200" b="0" i="0" u="none">
                <a:solidFill>
                  <a:srgbClr val="334155"/>
                </a:solidFill>
                <a:latin typeface="Inter"/>
              </a:rPr>
              <a:t> Implement 5-Fold / 10-Fold CV to ensure model stability and mitigate variance across arbitrary train-test splits.</a:t>
            </a:r>
          </a:p>
        </p:txBody>
      </p:sp>
      <p:sp>
        <p:nvSpPr>
          <p:cNvPr id="12" name="Rounded Rectangle 11"/>
          <p:cNvSpPr/>
          <p:nvPr/>
        </p:nvSpPr>
        <p:spPr>
          <a:xfrm>
            <a:off x="571500" y="4957762"/>
            <a:ext cx="11049000" cy="552450"/>
          </a:xfrm>
          <a:prstGeom prst="roundRect">
            <a:avLst>
              <a:gd name="adj" fmla="val 1724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85850" y="5110162"/>
            <a:ext cx="10344150" cy="247650"/>
          </a:xfrm>
          <a:prstGeom prst="rect">
            <a:avLst/>
          </a:prstGeom>
          <a:noFill/>
        </p:spPr>
        <p:txBody>
          <a:bodyPr wrap="square" lIns="0" tIns="0" rIns="0" bIns="0" anchor="t">
            <a:spAutoFit/>
          </a:bodyPr>
          <a:lstStyle/>
          <a:p>
            <a:pPr algn="l">
              <a:lnSpc>
                <a:spcPts val="1800"/>
              </a:lnSpc>
            </a:pPr>
            <a:r>
              <a:rPr sz="1200" b="1" i="0" u="none">
                <a:solidFill>
                  <a:srgbClr val="0F172A"/>
                </a:solidFill>
                <a:latin typeface="Inter"/>
              </a:rPr>
              <a:t>Comparative Evaluation:</a:t>
            </a:r>
            <a:r>
              <a:rPr sz="1200" b="0" i="0" u="none">
                <a:solidFill>
                  <a:srgbClr val="334155"/>
                </a:solidFill>
                <a:latin typeface="Inter"/>
              </a:rPr>
              <a:t> Benchmarking models on clinical metrics: Accuracy, Precision, Recall (Sensitivity), F1-Score, and ROC-AUC.</a:t>
            </a:r>
          </a:p>
        </p:txBody>
      </p:sp>
      <p:sp>
        <p:nvSpPr>
          <p:cNvPr id="14" name="Rectangle 13"/>
          <p:cNvSpPr/>
          <p:nvPr/>
        </p:nvSpPr>
        <p:spPr>
          <a:xfrm>
            <a:off x="571500" y="2757487"/>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1500" y="3443287"/>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1500" y="4129087"/>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1500" y="4814887"/>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71500" y="5500687"/>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771525" y="2162175"/>
            <a:ext cx="190500" cy="200025"/>
          </a:xfrm>
          <a:prstGeom prst="rect">
            <a:avLst/>
          </a:prstGeom>
        </p:spPr>
      </p:pic>
      <p:pic>
        <p:nvPicPr>
          <p:cNvPr id="20" name="Picture 19" descr="image.png"/>
          <p:cNvPicPr>
            <a:picLocks noChangeAspect="1"/>
          </p:cNvPicPr>
          <p:nvPr/>
        </p:nvPicPr>
        <p:blipFill>
          <a:blip r:embed="rId4"/>
          <a:stretch>
            <a:fillRect/>
          </a:stretch>
        </p:blipFill>
        <p:spPr>
          <a:xfrm>
            <a:off x="771525" y="3076575"/>
            <a:ext cx="190500" cy="200025"/>
          </a:xfrm>
          <a:prstGeom prst="rect">
            <a:avLst/>
          </a:prstGeom>
        </p:spPr>
      </p:pic>
      <p:pic>
        <p:nvPicPr>
          <p:cNvPr id="21" name="Picture 20" descr="image.png"/>
          <p:cNvPicPr>
            <a:picLocks noChangeAspect="1"/>
          </p:cNvPicPr>
          <p:nvPr/>
        </p:nvPicPr>
        <p:blipFill>
          <a:blip r:embed="rId4"/>
          <a:stretch>
            <a:fillRect/>
          </a:stretch>
        </p:blipFill>
        <p:spPr>
          <a:xfrm>
            <a:off x="771525" y="3762375"/>
            <a:ext cx="190500" cy="200025"/>
          </a:xfrm>
          <a:prstGeom prst="rect">
            <a:avLst/>
          </a:prstGeom>
        </p:spPr>
      </p:pic>
      <p:pic>
        <p:nvPicPr>
          <p:cNvPr id="22" name="Picture 21" descr="image.png"/>
          <p:cNvPicPr>
            <a:picLocks noChangeAspect="1"/>
          </p:cNvPicPr>
          <p:nvPr/>
        </p:nvPicPr>
        <p:blipFill>
          <a:blip r:embed="rId4"/>
          <a:stretch>
            <a:fillRect/>
          </a:stretch>
        </p:blipFill>
        <p:spPr>
          <a:xfrm>
            <a:off x="771525" y="4448175"/>
            <a:ext cx="190500" cy="200025"/>
          </a:xfrm>
          <a:prstGeom prst="rect">
            <a:avLst/>
          </a:prstGeom>
        </p:spPr>
      </p:pic>
      <p:pic>
        <p:nvPicPr>
          <p:cNvPr id="23" name="Picture 22" descr="image.png"/>
          <p:cNvPicPr>
            <a:picLocks noChangeAspect="1"/>
          </p:cNvPicPr>
          <p:nvPr/>
        </p:nvPicPr>
        <p:blipFill>
          <a:blip r:embed="rId4"/>
          <a:stretch>
            <a:fillRect/>
          </a:stretch>
        </p:blipFill>
        <p:spPr>
          <a:xfrm>
            <a:off x="771525" y="5133975"/>
            <a:ext cx="190500" cy="200025"/>
          </a:xfrm>
          <a:prstGeom prst="rect">
            <a:avLst/>
          </a:prstGeom>
        </p:spPr>
      </p:pic>
      <p:sp>
        <p:nvSpPr>
          <p:cNvPr id="24" name="TextBox 23"/>
          <p:cNvSpPr txBox="1"/>
          <p:nvPr/>
        </p:nvSpPr>
        <p:spPr>
          <a:xfrm>
            <a:off x="946100" y="476250"/>
            <a:ext cx="11208119" cy="485775"/>
          </a:xfrm>
          <a:prstGeom prst="rect">
            <a:avLst/>
          </a:prstGeom>
          <a:noFill/>
        </p:spPr>
        <p:txBody>
          <a:bodyPr wrap="square" lIns="0" tIns="0" rIns="0" bIns="0" anchor="ctr">
            <a:spAutoFit/>
          </a:bodyPr>
          <a:lstStyle/>
          <a:p>
            <a:pPr algn="l"/>
            <a:r>
              <a:rPr sz="2550" b="1" i="0" u="none">
                <a:solidFill>
                  <a:srgbClr val="0F172A"/>
                </a:solidFill>
                <a:latin typeface="Poppins"/>
              </a:rPr>
              <a:t>Project 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6352"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26393"/>
            <a:ext cx="5867400" cy="4376737"/>
          </a:xfrm>
          <a:prstGeom prst="rect">
            <a:avLst/>
          </a:prstGeom>
        </p:spPr>
      </p:pic>
      <p:pic>
        <p:nvPicPr>
          <p:cNvPr id="4" name="Picture 3" descr="image.png"/>
          <p:cNvPicPr>
            <a:picLocks noChangeAspect="1"/>
          </p:cNvPicPr>
          <p:nvPr/>
        </p:nvPicPr>
        <p:blipFill>
          <a:blip r:embed="rId4"/>
          <a:stretch>
            <a:fillRect/>
          </a:stretch>
        </p:blipFill>
        <p:spPr>
          <a:xfrm>
            <a:off x="6819900" y="2257425"/>
            <a:ext cx="4800600" cy="3114675"/>
          </a:xfrm>
          <a:prstGeom prst="rect">
            <a:avLst/>
          </a:prstGeom>
        </p:spPr>
      </p:pic>
      <p:pic>
        <p:nvPicPr>
          <p:cNvPr id="5" name="Picture 4" descr="image.png"/>
          <p:cNvPicPr>
            <a:picLocks noChangeAspect="1"/>
          </p:cNvPicPr>
          <p:nvPr/>
        </p:nvPicPr>
        <p:blipFill>
          <a:blip r:embed="rId5"/>
          <a:stretch>
            <a:fillRect/>
          </a:stretch>
        </p:blipFill>
        <p:spPr>
          <a:xfrm>
            <a:off x="571500" y="585787"/>
            <a:ext cx="231725" cy="266700"/>
          </a:xfrm>
          <a:prstGeom prst="rect">
            <a:avLst/>
          </a:prstGeom>
        </p:spPr>
      </p:pic>
      <p:graphicFrame>
        <p:nvGraphicFramePr>
          <p:cNvPr id="6" name="Table 5"/>
          <p:cNvGraphicFramePr>
            <a:graphicFrameLocks noGrp="1"/>
          </p:cNvGraphicFramePr>
          <p:nvPr/>
        </p:nvGraphicFramePr>
        <p:xfrm>
          <a:off x="581025" y="1635918"/>
          <a:ext cx="5848350" cy="4357687"/>
        </p:xfrm>
        <a:graphic>
          <a:graphicData uri="http://schemas.openxmlformats.org/drawingml/2006/table">
            <a:tbl>
              <a:tblPr firstRow="1" bandRow="1">
                <a:tableStyleId>{5C22544A-7EE6-4342-B048-85BDC9FD1C3A}</a:tableStyleId>
              </a:tblPr>
              <a:tblGrid>
                <a:gridCol w="161925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tblGrid>
              <a:tr h="544710">
                <a:tc>
                  <a:txBody>
                    <a:bodyPr/>
                    <a:lstStyle/>
                    <a:p>
                      <a:pPr algn="l"/>
                      <a:r>
                        <a:rPr sz="1200" b="0" i="0" u="none">
                          <a:solidFill>
                            <a:srgbClr val="FFFFFF"/>
                          </a:solidFill>
                          <a:latin typeface="Poppins SemiBold"/>
                        </a:rPr>
                        <a:t>Clinical Feature</a:t>
                      </a:r>
                    </a:p>
                  </a:txBody>
                  <a:tcPr marL="63500" marR="63500" marT="25400" marB="25400" anchor="ctr">
                    <a:lnL>
                      <a:noFill/>
                    </a:lnL>
                    <a:lnR>
                      <a:noFill/>
                    </a:lnR>
                    <a:lnT>
                      <a:noFill/>
                    </a:lnT>
                    <a:lnB>
                      <a:noFill/>
                    </a:lnB>
                    <a:solidFill>
                      <a:srgbClr val="0F172A"/>
                    </a:solidFill>
                  </a:tcPr>
                </a:tc>
                <a:tc>
                  <a:txBody>
                    <a:bodyPr/>
                    <a:lstStyle/>
                    <a:p>
                      <a:pPr algn="l"/>
                      <a:r>
                        <a:rPr sz="1200" b="0" i="0" u="none">
                          <a:solidFill>
                            <a:srgbClr val="FFFFFF"/>
                          </a:solidFill>
                          <a:latin typeface="Poppins SemiBold"/>
                        </a:rPr>
                        <a:t>Description</a:t>
                      </a:r>
                    </a:p>
                  </a:txBody>
                  <a:tcPr marL="63500" marR="63500" marT="25400" marB="25400" anchor="ctr">
                    <a:lnL>
                      <a:noFill/>
                    </a:lnL>
                    <a:lnR>
                      <a:noFill/>
                    </a:lnR>
                    <a:lnT>
                      <a:noFill/>
                    </a:lnT>
                    <a:lnB>
                      <a:noFill/>
                    </a:lnB>
                    <a:solidFill>
                      <a:srgbClr val="0F172A"/>
                    </a:solidFill>
                  </a:tcPr>
                </a:tc>
                <a:tc>
                  <a:txBody>
                    <a:bodyPr/>
                    <a:lstStyle/>
                    <a:p>
                      <a:pPr algn="l"/>
                      <a:r>
                        <a:rPr sz="1200" b="0" i="0" u="none">
                          <a:solidFill>
                            <a:srgbClr val="FFFFFF"/>
                          </a:solidFill>
                          <a:latin typeface="Poppins SemiBold"/>
                        </a:rPr>
                        <a:t>Type</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544710">
                <a:tc>
                  <a:txBody>
                    <a:bodyPr/>
                    <a:lstStyle/>
                    <a:p>
                      <a:pPr algn="l"/>
                      <a:r>
                        <a:rPr sz="1125" b="1" i="0" u="none">
                          <a:solidFill>
                            <a:srgbClr val="334155"/>
                          </a:solidFill>
                          <a:latin typeface="Inter"/>
                        </a:rPr>
                        <a:t>Pregnancies</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Number of pregnancies</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Numeric</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544710">
                <a:tc>
                  <a:txBody>
                    <a:bodyPr/>
                    <a:lstStyle/>
                    <a:p>
                      <a:pPr algn="l"/>
                      <a:r>
                        <a:rPr sz="1125" b="1" i="0" u="none">
                          <a:solidFill>
                            <a:srgbClr val="334155"/>
                          </a:solidFill>
                          <a:latin typeface="Inter"/>
                        </a:rPr>
                        <a:t>Glucose</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2-hr plasma glucose concentration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Numeric</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544710">
                <a:tc>
                  <a:txBody>
                    <a:bodyPr/>
                    <a:lstStyle/>
                    <a:p>
                      <a:pPr algn="l"/>
                      <a:r>
                        <a:rPr sz="1125" b="1" i="0" u="none">
                          <a:solidFill>
                            <a:srgbClr val="334155"/>
                          </a:solidFill>
                          <a:latin typeface="Inter"/>
                        </a:rPr>
                        <a:t>BloodPressure</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Diastolic blood pressure (mm Hg)</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Numeric</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544710">
                <a:tc>
                  <a:txBody>
                    <a:bodyPr/>
                    <a:lstStyle/>
                    <a:p>
                      <a:pPr algn="l"/>
                      <a:r>
                        <a:rPr sz="1125" b="1" i="0" u="none">
                          <a:solidFill>
                            <a:srgbClr val="334155"/>
                          </a:solidFill>
                          <a:latin typeface="Inter"/>
                        </a:rPr>
                        <a:t>BMI</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Body mass index (weight in kg/(height in m)²)</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Numeric</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544710">
                <a:tc>
                  <a:txBody>
                    <a:bodyPr/>
                    <a:lstStyle/>
                    <a:p>
                      <a:pPr algn="l"/>
                      <a:r>
                        <a:rPr sz="1125" b="1" i="0" u="none">
                          <a:solidFill>
                            <a:srgbClr val="334155"/>
                          </a:solidFill>
                          <a:latin typeface="Inter"/>
                        </a:rPr>
                        <a:t>Insulin</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2-Hour serum insulin (mu U/ml)</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Numeric</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r h="544710">
                <a:tc>
                  <a:txBody>
                    <a:bodyPr/>
                    <a:lstStyle/>
                    <a:p>
                      <a:pPr algn="l"/>
                      <a:r>
                        <a:rPr sz="1125" b="1" i="0" u="none">
                          <a:solidFill>
                            <a:srgbClr val="334155"/>
                          </a:solidFill>
                          <a:latin typeface="Inter"/>
                        </a:rPr>
                        <a:t>DiabetesPedigree</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Diabetes hereditary pedigree function</a:t>
                      </a:r>
                    </a:p>
                  </a:txBody>
                  <a:tcPr marL="63500" marR="63500" marT="25400" marB="25400" anchor="ctr">
                    <a:lnL>
                      <a:noFill/>
                    </a:lnL>
                    <a:lnR>
                      <a:noFill/>
                    </a:lnR>
                    <a:lnT>
                      <a:noFill/>
                    </a:lnT>
                    <a:lnB>
                      <a:noFill/>
                    </a:lnB>
                    <a:solidFill>
                      <a:srgbClr val="F8FAFC"/>
                    </a:solidFill>
                  </a:tcPr>
                </a:tc>
                <a:tc>
                  <a:txBody>
                    <a:bodyPr/>
                    <a:lstStyle/>
                    <a:p>
                      <a:pPr algn="l"/>
                      <a:r>
                        <a:rPr sz="1125" b="0" i="0" u="none">
                          <a:solidFill>
                            <a:srgbClr val="334155"/>
                          </a:solidFill>
                          <a:latin typeface="Inter"/>
                        </a:rPr>
                        <a:t>Numeric</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6"/>
                  </a:ext>
                </a:extLst>
              </a:tr>
              <a:tr h="544717">
                <a:tc>
                  <a:txBody>
                    <a:bodyPr/>
                    <a:lstStyle/>
                    <a:p>
                      <a:pPr algn="l"/>
                      <a:r>
                        <a:rPr sz="1125" b="1" i="0" u="none">
                          <a:solidFill>
                            <a:srgbClr val="334155"/>
                          </a:solidFill>
                          <a:latin typeface="Inter"/>
                        </a:rPr>
                        <a:t>Outcome</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334155"/>
                          </a:solidFill>
                          <a:latin typeface="Inter"/>
                        </a:rPr>
                        <a:t>Class variable (0: Non-Diabetic, 1: Diabetic)</a:t>
                      </a:r>
                    </a:p>
                  </a:txBody>
                  <a:tcPr marL="63500" marR="63500" marT="25400" marB="25400" anchor="ctr">
                    <a:lnL>
                      <a:noFill/>
                    </a:lnL>
                    <a:lnR>
                      <a:noFill/>
                    </a:lnR>
                    <a:lnT>
                      <a:noFill/>
                    </a:lnT>
                    <a:lnB>
                      <a:noFill/>
                    </a:lnB>
                    <a:solidFill>
                      <a:srgbClr val="FFFFFF"/>
                    </a:solidFill>
                  </a:tcPr>
                </a:tc>
                <a:tc>
                  <a:txBody>
                    <a:bodyPr/>
                    <a:lstStyle/>
                    <a:p>
                      <a:pPr algn="l"/>
                      <a:r>
                        <a:rPr sz="1125" b="0" i="0" u="none">
                          <a:solidFill>
                            <a:srgbClr val="991B1B"/>
                          </a:solidFill>
                          <a:latin typeface="Inter"/>
                        </a:rPr>
                        <a:t>Target</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7264832" y="2365256"/>
            <a:ext cx="4064883" cy="3208571"/>
          </a:xfrm>
          <a:prstGeom prst="rect">
            <a:avLst/>
          </a:prstGeom>
          <a:noFill/>
        </p:spPr>
        <p:txBody>
          <a:bodyPr wrap="square" lIns="0" tIns="0" rIns="0" bIns="0" anchor="ctr">
            <a:spAutoFit/>
          </a:bodyPr>
          <a:lstStyle/>
          <a:p>
            <a:pPr algn="l"/>
            <a:r>
              <a:rPr sz="1650" b="1" i="0" u="none" dirty="0">
                <a:solidFill>
                  <a:srgbClr val="0F172A"/>
                </a:solidFill>
                <a:latin typeface="Poppins"/>
              </a:rPr>
              <a:t>Why Pima Dataset?</a:t>
            </a:r>
            <a:endParaRPr lang="en-IN" sz="1650" b="1" dirty="0">
              <a:solidFill>
                <a:srgbClr val="0F172A"/>
              </a:solidFill>
              <a:latin typeface="Poppins"/>
            </a:endParaRPr>
          </a:p>
          <a:p>
            <a:pPr lvl="0"/>
            <a:r>
              <a:rPr lang="en-IN" sz="1600" dirty="0"/>
              <a:t>It is a well-established dataset widely used for diabetes prediction research.</a:t>
            </a:r>
          </a:p>
          <a:p>
            <a:pPr lvl="0"/>
            <a:r>
              <a:rPr lang="en-IN" sz="1600" dirty="0"/>
              <a:t>It contains relevant medical attributes such as glucose level, BMI, age, blood pressure, and insulin.</a:t>
            </a:r>
          </a:p>
          <a:p>
            <a:pPr lvl="0"/>
            <a:r>
              <a:rPr lang="en-IN" sz="1600" dirty="0"/>
              <a:t>It provides a clear binary outcome indicating whether diabetes was observed.</a:t>
            </a:r>
          </a:p>
          <a:p>
            <a:pPr lvl="0"/>
            <a:r>
              <a:rPr lang="en-IN" sz="1600" dirty="0"/>
              <a:t>Its structured format makes it suitable for data cleaning, EDA, and Machine Learning.</a:t>
            </a:r>
          </a:p>
          <a:p>
            <a:pPr lvl="0"/>
            <a:r>
              <a:rPr lang="en-IN" sz="1600" dirty="0"/>
              <a:t>It allows us to compare different prediction models and evaluate their performance effectively.</a:t>
            </a:r>
            <a:endParaRPr lang="en-IN" sz="1650" b="1" i="0" u="none" dirty="0">
              <a:solidFill>
                <a:srgbClr val="0F172A"/>
              </a:solidFill>
              <a:latin typeface="Poppins"/>
            </a:endParaRPr>
          </a:p>
        </p:txBody>
      </p:sp>
      <p:sp>
        <p:nvSpPr>
          <p:cNvPr id="10" name="Rectangle 9"/>
          <p:cNvSpPr/>
          <p:nvPr/>
        </p:nvSpPr>
        <p:spPr>
          <a:xfrm>
            <a:off x="581025" y="2616993"/>
            <a:ext cx="1619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00275" y="2616993"/>
            <a:ext cx="3181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381625" y="2616993"/>
            <a:ext cx="1047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1025" y="3117056"/>
            <a:ext cx="1619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200275" y="3117056"/>
            <a:ext cx="3181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381625" y="3117056"/>
            <a:ext cx="1047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025" y="3617118"/>
            <a:ext cx="1619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00275" y="3617118"/>
            <a:ext cx="3181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81625" y="3617118"/>
            <a:ext cx="1047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81025" y="4302918"/>
            <a:ext cx="1619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200275" y="4302918"/>
            <a:ext cx="3181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81625" y="4302918"/>
            <a:ext cx="1047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81025" y="4802981"/>
            <a:ext cx="1619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200275" y="4802981"/>
            <a:ext cx="3181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381625" y="4802981"/>
            <a:ext cx="1047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81025" y="5303043"/>
            <a:ext cx="1619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00275" y="5303043"/>
            <a:ext cx="31813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381625" y="5303043"/>
            <a:ext cx="1047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7525" y="476250"/>
            <a:ext cx="11238123" cy="485775"/>
          </a:xfrm>
          <a:prstGeom prst="rect">
            <a:avLst/>
          </a:prstGeom>
          <a:noFill/>
        </p:spPr>
        <p:txBody>
          <a:bodyPr wrap="square" lIns="0" tIns="0" rIns="0" bIns="0" anchor="ctr">
            <a:spAutoFit/>
          </a:bodyPr>
          <a:lstStyle/>
          <a:p>
            <a:pPr algn="l"/>
            <a:r>
              <a:rPr sz="2550" b="1" i="0" u="none">
                <a:solidFill>
                  <a:srgbClr val="0F172A"/>
                </a:solidFill>
                <a:latin typeface="Poppins"/>
              </a:rPr>
              <a:t>Dataset Selection &amp; Rationale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57387"/>
            <a:ext cx="5334000" cy="3714750"/>
          </a:xfrm>
          <a:prstGeom prst="rect">
            <a:avLst/>
          </a:prstGeom>
        </p:spPr>
      </p:pic>
      <p:pic>
        <p:nvPicPr>
          <p:cNvPr id="4" name="Picture 3" descr="image.png"/>
          <p:cNvPicPr>
            <a:picLocks noChangeAspect="1"/>
          </p:cNvPicPr>
          <p:nvPr/>
        </p:nvPicPr>
        <p:blipFill>
          <a:blip r:embed="rId4"/>
          <a:stretch>
            <a:fillRect/>
          </a:stretch>
        </p:blipFill>
        <p:spPr>
          <a:xfrm>
            <a:off x="6299714" y="1940719"/>
            <a:ext cx="5334000" cy="3714750"/>
          </a:xfrm>
          <a:prstGeom prst="rect">
            <a:avLst/>
          </a:prstGeom>
        </p:spPr>
      </p:pic>
      <p:sp>
        <p:nvSpPr>
          <p:cNvPr id="6" name="TextBox 5"/>
          <p:cNvSpPr txBox="1"/>
          <p:nvPr/>
        </p:nvSpPr>
        <p:spPr>
          <a:xfrm>
            <a:off x="1138832" y="2271712"/>
            <a:ext cx="4674959" cy="314325"/>
          </a:xfrm>
          <a:prstGeom prst="rect">
            <a:avLst/>
          </a:prstGeom>
          <a:noFill/>
        </p:spPr>
        <p:txBody>
          <a:bodyPr wrap="square" lIns="0" tIns="0" rIns="0" bIns="0" anchor="ctr">
            <a:spAutoFit/>
          </a:bodyPr>
          <a:lstStyle/>
          <a:p>
            <a:pPr algn="l"/>
            <a:r>
              <a:rPr sz="1650" b="1" i="0" u="none">
                <a:solidFill>
                  <a:srgbClr val="0F172A"/>
                </a:solidFill>
                <a:latin typeface="Poppins"/>
              </a:rPr>
              <a:t>Key Conclusions</a:t>
            </a:r>
          </a:p>
        </p:txBody>
      </p:sp>
      <p:sp>
        <p:nvSpPr>
          <p:cNvPr id="10" name="TextBox 9"/>
          <p:cNvSpPr txBox="1"/>
          <p:nvPr/>
        </p:nvSpPr>
        <p:spPr>
          <a:xfrm>
            <a:off x="6901457" y="2271712"/>
            <a:ext cx="4624953" cy="314325"/>
          </a:xfrm>
          <a:prstGeom prst="rect">
            <a:avLst/>
          </a:prstGeom>
          <a:noFill/>
        </p:spPr>
        <p:txBody>
          <a:bodyPr wrap="square" lIns="0" tIns="0" rIns="0" bIns="0" anchor="ctr">
            <a:spAutoFit/>
          </a:bodyPr>
          <a:lstStyle/>
          <a:p>
            <a:pPr algn="l"/>
            <a:r>
              <a:rPr sz="1650" b="1" i="0" u="none">
                <a:solidFill>
                  <a:srgbClr val="0F172A"/>
                </a:solidFill>
                <a:latin typeface="Poppins"/>
              </a:rPr>
              <a:t>Future Recommendations</a:t>
            </a:r>
          </a:p>
        </p:txBody>
      </p:sp>
      <p:pic>
        <p:nvPicPr>
          <p:cNvPr id="14" name="Picture 13" descr="image.png"/>
          <p:cNvPicPr>
            <a:picLocks noChangeAspect="1"/>
          </p:cNvPicPr>
          <p:nvPr/>
        </p:nvPicPr>
        <p:blipFill>
          <a:blip r:embed="rId5"/>
          <a:stretch>
            <a:fillRect/>
          </a:stretch>
        </p:blipFill>
        <p:spPr>
          <a:xfrm>
            <a:off x="885825" y="2324100"/>
            <a:ext cx="157757" cy="209550"/>
          </a:xfrm>
          <a:prstGeom prst="rect">
            <a:avLst/>
          </a:prstGeom>
        </p:spPr>
      </p:pic>
      <p:pic>
        <p:nvPicPr>
          <p:cNvPr id="15" name="Picture 14" descr="image.png"/>
          <p:cNvPicPr>
            <a:picLocks noChangeAspect="1"/>
          </p:cNvPicPr>
          <p:nvPr/>
        </p:nvPicPr>
        <p:blipFill>
          <a:blip r:embed="rId6"/>
          <a:stretch>
            <a:fillRect/>
          </a:stretch>
        </p:blipFill>
        <p:spPr>
          <a:xfrm>
            <a:off x="6600825" y="2324100"/>
            <a:ext cx="205382" cy="209550"/>
          </a:xfrm>
          <a:prstGeom prst="rect">
            <a:avLst/>
          </a:prstGeom>
        </p:spPr>
      </p:pic>
      <p:sp>
        <p:nvSpPr>
          <p:cNvPr id="16" name="TextBox 15"/>
          <p:cNvSpPr txBox="1"/>
          <p:nvPr/>
        </p:nvSpPr>
        <p:spPr>
          <a:xfrm>
            <a:off x="917525" y="476250"/>
            <a:ext cx="11238123" cy="485775"/>
          </a:xfrm>
          <a:prstGeom prst="rect">
            <a:avLst/>
          </a:prstGeom>
          <a:noFill/>
        </p:spPr>
        <p:txBody>
          <a:bodyPr wrap="square" lIns="0" tIns="0" rIns="0" bIns="0" anchor="ctr">
            <a:spAutoFit/>
          </a:bodyPr>
          <a:lstStyle/>
          <a:p>
            <a:pPr algn="l"/>
            <a:r>
              <a:rPr sz="2550" b="1" i="0" u="none">
                <a:solidFill>
                  <a:srgbClr val="0F172A"/>
                </a:solidFill>
                <a:latin typeface="Poppins"/>
              </a:rPr>
              <a:t>Conclusion &amp; Future Directions</a:t>
            </a:r>
          </a:p>
        </p:txBody>
      </p:sp>
      <p:sp>
        <p:nvSpPr>
          <p:cNvPr id="18" name="TextBox 17">
            <a:extLst>
              <a:ext uri="{FF2B5EF4-FFF2-40B4-BE49-F238E27FC236}">
                <a16:creationId xmlns:a16="http://schemas.microsoft.com/office/drawing/2014/main" id="{3ED84364-62AB-C5BB-5FF5-D5F6FC41636E}"/>
              </a:ext>
            </a:extLst>
          </p:cNvPr>
          <p:cNvSpPr txBox="1"/>
          <p:nvPr/>
        </p:nvSpPr>
        <p:spPr>
          <a:xfrm>
            <a:off x="1043582" y="2802913"/>
            <a:ext cx="4086847" cy="2246769"/>
          </a:xfrm>
          <a:prstGeom prst="rect">
            <a:avLst/>
          </a:prstGeom>
          <a:noFill/>
        </p:spPr>
        <p:txBody>
          <a:bodyPr wrap="square">
            <a:spAutoFit/>
          </a:bodyPr>
          <a:lstStyle/>
          <a:p>
            <a:r>
              <a:rPr lang="en-IN" sz="1400" dirty="0"/>
              <a:t>The project demonstrates how Machine Learning can be used to predict diabetes risk from relevant health parameters in the PIMA dataset. Through data cleaning, Exploratory Data Analysis, model development, and Cross-Validation, we can identify patterns associated with diabetes and evaluate the effectiveness of different prediction approaches. The comparison of Logistic Regression and Random Forest helps determine a suitable model for the prediction task.</a:t>
            </a:r>
          </a:p>
        </p:txBody>
      </p:sp>
      <p:sp>
        <p:nvSpPr>
          <p:cNvPr id="20" name="TextBox 19">
            <a:extLst>
              <a:ext uri="{FF2B5EF4-FFF2-40B4-BE49-F238E27FC236}">
                <a16:creationId xmlns:a16="http://schemas.microsoft.com/office/drawing/2014/main" id="{4FF69BBD-3E40-B01B-D716-FFDC578B7849}"/>
              </a:ext>
            </a:extLst>
          </p:cNvPr>
          <p:cNvSpPr txBox="1"/>
          <p:nvPr/>
        </p:nvSpPr>
        <p:spPr>
          <a:xfrm>
            <a:off x="6377582" y="2941262"/>
            <a:ext cx="5242918" cy="1815882"/>
          </a:xfrm>
          <a:prstGeom prst="rect">
            <a:avLst/>
          </a:prstGeom>
          <a:noFill/>
        </p:spPr>
        <p:txBody>
          <a:bodyPr wrap="square">
            <a:spAutoFit/>
          </a:bodyPr>
          <a:lstStyle/>
          <a:p>
            <a:pPr marL="342900" lvl="0" indent="-342900">
              <a:buFont typeface="Arial" panose="020B0604020202020204" pitchFamily="34" charset="0"/>
              <a:buChar char="•"/>
            </a:pPr>
            <a:r>
              <a:rPr lang="en-IN" sz="1400" dirty="0"/>
              <a:t>Improve prediction performance through feature selection and hyperparameter tuning.</a:t>
            </a:r>
          </a:p>
          <a:p>
            <a:pPr marL="342900" lvl="0" indent="-342900">
              <a:buFont typeface="Arial" panose="020B0604020202020204" pitchFamily="34" charset="0"/>
              <a:buChar char="•"/>
            </a:pPr>
            <a:r>
              <a:rPr lang="en-IN" sz="1400" dirty="0"/>
              <a:t>Explore additional Machine Learning and ensemble techniques.</a:t>
            </a:r>
          </a:p>
          <a:p>
            <a:pPr marL="342900" lvl="0" indent="-342900">
              <a:buFont typeface="Arial" panose="020B0604020202020204" pitchFamily="34" charset="0"/>
              <a:buChar char="•"/>
            </a:pPr>
            <a:r>
              <a:rPr lang="en-IN" sz="1400" dirty="0"/>
              <a:t>Validate the models using larger and more diverse datasets.</a:t>
            </a:r>
          </a:p>
          <a:p>
            <a:pPr marL="342900" lvl="0" indent="-342900">
              <a:buFont typeface="Arial" panose="020B0604020202020204" pitchFamily="34" charset="0"/>
              <a:buChar char="•"/>
            </a:pPr>
            <a:r>
              <a:rPr lang="en-IN" sz="1400" dirty="0"/>
              <a:t>Develop a user-friendly interface for providing individual risk predictions.</a:t>
            </a:r>
          </a:p>
          <a:p>
            <a:pPr marL="342900" lvl="0" indent="-342900">
              <a:buFont typeface="Arial" panose="020B0604020202020204" pitchFamily="34" charset="0"/>
              <a:buChar char="•"/>
            </a:pPr>
            <a:r>
              <a:rPr lang="en-IN" sz="1400" dirty="0"/>
              <a:t>Integrate the system with real-world healthcare data for practical application.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3981450" y="2247816"/>
            <a:ext cx="3865275" cy="646331"/>
          </a:xfrm>
          <a:prstGeom prst="rect">
            <a:avLst/>
          </a:prstGeom>
          <a:noFill/>
        </p:spPr>
        <p:txBody>
          <a:bodyPr wrap="square" lIns="0" tIns="0" rIns="0" bIns="0" anchor="t">
            <a:spAutoFit/>
          </a:bodyPr>
          <a:lstStyle/>
          <a:p>
            <a:pPr algn="ctr"/>
            <a:r>
              <a:rPr sz="4200" b="0" i="0" u="none" dirty="0">
                <a:solidFill>
                  <a:srgbClr val="0F172A"/>
                </a:solidFill>
                <a:latin typeface="Poppins ExtraBold"/>
              </a:rPr>
              <a:t>Thank You!</a:t>
            </a:r>
          </a:p>
        </p:txBody>
      </p:sp>
      <p:sp>
        <p:nvSpPr>
          <p:cNvPr id="8" name="TextBox 7"/>
          <p:cNvSpPr txBox="1"/>
          <p:nvPr/>
        </p:nvSpPr>
        <p:spPr>
          <a:xfrm>
            <a:off x="3781425" y="3238500"/>
            <a:ext cx="2038350" cy="242887"/>
          </a:xfrm>
          <a:prstGeom prst="rect">
            <a:avLst/>
          </a:prstGeom>
          <a:noFill/>
        </p:spPr>
        <p:txBody>
          <a:bodyPr wrap="square" lIns="257175" tIns="0" rIns="0" bIns="0" anchor="t">
            <a:spAutoFit/>
          </a:bodyPr>
          <a:lstStyle/>
          <a:p>
            <a:pPr algn="ctr">
              <a:lnSpc>
                <a:spcPts val="1912"/>
              </a:lnSpc>
            </a:pPr>
            <a:r>
              <a:rPr sz="1275" b="0" i="0" u="none" dirty="0">
                <a:solidFill>
                  <a:srgbClr val="334155"/>
                </a:solidFill>
                <a:latin typeface="Inter SemiBold"/>
              </a:rPr>
              <a:t>Sreeya (2500032243)</a:t>
            </a:r>
          </a:p>
        </p:txBody>
      </p:sp>
      <p:sp>
        <p:nvSpPr>
          <p:cNvPr id="9" name="TextBox 8"/>
          <p:cNvSpPr txBox="1"/>
          <p:nvPr/>
        </p:nvSpPr>
        <p:spPr>
          <a:xfrm>
            <a:off x="6105525" y="3238500"/>
            <a:ext cx="57150" cy="242887"/>
          </a:xfrm>
          <a:prstGeom prst="rect">
            <a:avLst/>
          </a:prstGeom>
          <a:noFill/>
        </p:spPr>
        <p:txBody>
          <a:bodyPr wrap="square" lIns="0" tIns="0" rIns="0" bIns="0" anchor="t">
            <a:spAutoFit/>
          </a:bodyPr>
          <a:lstStyle/>
          <a:p>
            <a:pPr algn="ctr">
              <a:lnSpc>
                <a:spcPts val="1912"/>
              </a:lnSpc>
            </a:pPr>
            <a:r>
              <a:rPr sz="1275" b="0" i="0" u="none">
                <a:solidFill>
                  <a:srgbClr val="334155"/>
                </a:solidFill>
                <a:latin typeface="Inter SemiBold"/>
              </a:rPr>
              <a:t>|</a:t>
            </a:r>
          </a:p>
        </p:txBody>
      </p:sp>
      <p:sp>
        <p:nvSpPr>
          <p:cNvPr id="10" name="TextBox 9"/>
          <p:cNvSpPr txBox="1"/>
          <p:nvPr/>
        </p:nvSpPr>
        <p:spPr>
          <a:xfrm>
            <a:off x="6448425" y="3238500"/>
            <a:ext cx="1962150" cy="242887"/>
          </a:xfrm>
          <a:prstGeom prst="rect">
            <a:avLst/>
          </a:prstGeom>
          <a:noFill/>
        </p:spPr>
        <p:txBody>
          <a:bodyPr wrap="square" lIns="257175" tIns="0" rIns="0" bIns="0" anchor="t">
            <a:spAutoFit/>
          </a:bodyPr>
          <a:lstStyle/>
          <a:p>
            <a:pPr algn="ctr">
              <a:lnSpc>
                <a:spcPts val="1912"/>
              </a:lnSpc>
            </a:pPr>
            <a:r>
              <a:rPr sz="1275" b="0" i="0" u="none">
                <a:solidFill>
                  <a:srgbClr val="334155"/>
                </a:solidFill>
                <a:latin typeface="Inter SemiBold"/>
              </a:rPr>
              <a:t>Hasini (2500030238)</a:t>
            </a:r>
          </a:p>
        </p:txBody>
      </p:sp>
      <p:pic>
        <p:nvPicPr>
          <p:cNvPr id="11" name="Picture 10" descr="image.png"/>
          <p:cNvPicPr>
            <a:picLocks noChangeAspect="1"/>
          </p:cNvPicPr>
          <p:nvPr/>
        </p:nvPicPr>
        <p:blipFill>
          <a:blip r:embed="rId3"/>
          <a:stretch>
            <a:fillRect/>
          </a:stretch>
        </p:blipFill>
        <p:spPr>
          <a:xfrm>
            <a:off x="3781425" y="3267075"/>
            <a:ext cx="200025" cy="161925"/>
          </a:xfrm>
          <a:prstGeom prst="rect">
            <a:avLst/>
          </a:prstGeom>
        </p:spPr>
      </p:pic>
      <p:pic>
        <p:nvPicPr>
          <p:cNvPr id="12" name="Picture 11" descr="image.png"/>
          <p:cNvPicPr>
            <a:picLocks noChangeAspect="1"/>
          </p:cNvPicPr>
          <p:nvPr/>
        </p:nvPicPr>
        <p:blipFill>
          <a:blip r:embed="rId3"/>
          <a:stretch>
            <a:fillRect/>
          </a:stretch>
        </p:blipFill>
        <p:spPr>
          <a:xfrm>
            <a:off x="6448425" y="3267075"/>
            <a:ext cx="200025" cy="1619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173</TotalTime>
  <Words>605</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Inter</vt:lpstr>
      <vt:lpstr>Inter Medium</vt:lpstr>
      <vt:lpstr>Inter SemiBold</vt:lpstr>
      <vt:lpstr>Poppins</vt:lpstr>
      <vt:lpstr>Poppins ExtraBold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sreeya medipally</dc:creator>
  <cp:keywords/>
  <dc:description>generated using python-pptx</dc:description>
  <cp:lastModifiedBy>medipally sreeya</cp:lastModifiedBy>
  <cp:revision>4</cp:revision>
  <dcterms:created xsi:type="dcterms:W3CDTF">2013-01-27T09:14:16Z</dcterms:created>
  <dcterms:modified xsi:type="dcterms:W3CDTF">2026-09-24T06:37:04Z</dcterms:modified>
  <cp:category/>
</cp:coreProperties>
</file>